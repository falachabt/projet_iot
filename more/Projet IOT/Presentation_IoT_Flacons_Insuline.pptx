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</a:defRPr>
            </a:pPr>
            <a:r>
              <a:t>GARANTIR LA QUALITÉ DE LA PRODUCTION</a:t>
            </a:r>
          </a:p>
          <a:p>
            <a:r>
              <a:t>D'UN PRODUIT PHARMACEUTIQUE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C4899"/>
                </a:solidFill>
              </a:defRPr>
            </a:pPr>
            <a:r>
              <a:t>Flacons d'Insuline - Vérification Automatisée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1F5F9"/>
                </a:solidFill>
              </a:defRPr>
            </a:pPr>
            <a:r>
              <a:t>Par : WALID</a:t>
            </a:r>
          </a:p>
          <a:p>
            <a:pPr algn="ctr">
              <a:defRPr sz="1800">
                <a:solidFill>
                  <a:srgbClr val="F1F5F9"/>
                </a:solidFill>
              </a:defRPr>
            </a:pPr>
            <a:r>
              <a:t>Formation : [À compléter]</a:t>
            </a:r>
          </a:p>
          <a:p>
            <a:pPr algn="ctr">
              <a:defRPr sz="1800">
                <a:solidFill>
                  <a:srgbClr val="F1F5F9"/>
                </a:solidFill>
              </a:defRPr>
            </a:pPr>
            <a:r>
              <a:t>Date : Mars 2026</a:t>
            </a:r>
          </a:p>
          <a:p>
            <a:pPr algn="ctr">
              <a:defRPr sz="1800">
                <a:solidFill>
                  <a:srgbClr val="F1F5F9"/>
                </a:solidFill>
              </a:defRPr>
            </a:pPr>
            <a:r>
              <a:t>Encadrant : [À compléter]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Pourquoi ce projet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🏥 Industrie pharmaceutique : Exigences strictes</a:t>
            </a:r>
          </a:p>
          <a:p>
            <a:pPr>
              <a:defRPr sz="2400"/>
            </a:pPr>
            <a:r>
              <a:t>⚕️ Insuline : Produit vital pour diabétiques</a:t>
            </a:r>
          </a:p>
          <a:p>
            <a:pPr>
              <a:defRPr sz="2400"/>
            </a:pPr>
            <a:r>
              <a:t>🔍 Contrôle qualité : Obligation réglementaire</a:t>
            </a:r>
          </a:p>
          <a:p>
            <a:pPr>
              <a:defRPr sz="2400"/>
            </a:pPr>
            <a:r>
              <a:t>❌ Problème : Contrôle manuel = lent, erreurs possibles</a:t>
            </a:r>
          </a:p>
          <a:p>
            <a:pPr>
              <a:defRPr sz="2400"/>
            </a:pPr>
            <a:r>
              <a:t>✅ Solution : Automatisation par vision artificielle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Que voulons-nous accomplir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✅ Automatiser le contrôle qualité des flacons</a:t>
            </a:r>
          </a:p>
          <a:p>
            <a:pPr>
              <a:defRPr sz="2200"/>
            </a:pPr>
            <a:r>
              <a:t>2. 🤖 Détecter par IA (YOLO) :</a:t>
            </a:r>
          </a:p>
          <a:p>
            <a:pPr lvl="1">
              <a:defRPr sz="2200"/>
            </a:pPr>
            <a:r>
              <a:t>   • Présence bouteille</a:t>
            </a:r>
          </a:p>
          <a:p>
            <a:pPr lvl="1">
              <a:defRPr sz="2200"/>
            </a:pPr>
            <a:r>
              <a:t>   • Présence bouchon</a:t>
            </a:r>
          </a:p>
          <a:p>
            <a:pPr lvl="1">
              <a:defRPr sz="2200"/>
            </a:pPr>
            <a:r>
              <a:t>   • Présence étiquette</a:t>
            </a:r>
          </a:p>
          <a:p>
            <a:pPr lvl="1">
              <a:defRPr sz="2200"/>
            </a:pPr>
            <a:r>
              <a:t>   • Niveau de liquide</a:t>
            </a:r>
          </a:p>
          <a:p>
            <a:pPr>
              <a:defRPr sz="2200"/>
            </a:pPr>
            <a:r>
              <a:t>3. 📊 Superviser en temps réel (Jumeau Numérique)</a:t>
            </a:r>
          </a:p>
          <a:p>
            <a:pPr>
              <a:defRPr sz="2200"/>
            </a:pPr>
            <a:r>
              <a:t>4. 📈 Tracer tous les produits (OK/KO)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Spécifications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2860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Exigence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Valeur cible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Temps de détection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&lt; 200 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Taux de faux positifs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&lt; 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Disponibilité système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&gt; 99%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Temps arrêt urgence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&lt; 100 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Responsive (tous écrans)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Vue d'ensemble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┌──────────────┐</a:t>
            </a:r>
          </a:p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│  ESP8266     │ ──MQTT──&gt; Raspberry Pi</a:t>
            </a:r>
          </a:p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│  - Capteur   │           (Caméra YOLO)</a:t>
            </a:r>
          </a:p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│  - Moteurs   │                │</a:t>
            </a:r>
          </a:p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│  - LEDs      │              MQTT</a:t>
            </a:r>
          </a:p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└──────────────┘                │</a:t>
            </a:r>
          </a:p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                                ▼</a:t>
            </a:r>
          </a:p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                         Backend Node.js</a:t>
            </a:r>
          </a:p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                         (MQTT + WebSocket)</a:t>
            </a:r>
          </a:p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                                │</a:t>
            </a:r>
          </a:p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                                ▼</a:t>
            </a:r>
          </a:p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                         Frontend React</a:t>
            </a:r>
          </a:p>
          <a:p>
            <a:pPr>
              <a:defRPr sz="1600">
                <a:solidFill>
                  <a:srgbClr val="F1F5F9"/>
                </a:solidFill>
                <a:latin typeface="Consolas"/>
              </a:defRPr>
            </a:pPr>
            <a:r>
              <a:t>                         (Dashboard Premium)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Stack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Matériel :</a:t>
            </a:r>
          </a:p>
          <a:p>
            <a:pPr>
              <a:spcBef>
                <a:spcPts val="600"/>
              </a:spcBef>
              <a:defRPr sz="1800"/>
            </a:pPr>
            <a:r>
              <a:t>🔧 ESP8266 NodeMCU</a:t>
            </a:r>
          </a:p>
          <a:p>
            <a:pPr>
              <a:spcBef>
                <a:spcPts val="600"/>
              </a:spcBef>
              <a:defRPr sz="1800"/>
            </a:pPr>
            <a:r>
              <a:t>🍓 Raspberry Pi 4</a:t>
            </a:r>
          </a:p>
          <a:p>
            <a:pPr>
              <a:spcBef>
                <a:spcPts val="600"/>
              </a:spcBef>
              <a:defRPr sz="1800"/>
            </a:pPr>
            <a:r>
              <a:t>📷 Caméra Raspberry Pi</a:t>
            </a:r>
          </a:p>
          <a:p>
            <a:pPr>
              <a:spcBef>
                <a:spcPts val="600"/>
              </a:spcBef>
              <a:defRPr sz="1800"/>
            </a:pPr>
            <a:r>
              <a:t>⚙️ Capteurs IR, Moteurs DC, LEDs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C4899"/>
                </a:solidFill>
              </a:defRPr>
            </a:pPr>
            <a:r>
              <a:t>Logiciel :</a:t>
            </a:r>
          </a:p>
          <a:p>
            <a:pPr>
              <a:spcBef>
                <a:spcPts val="600"/>
              </a:spcBef>
              <a:defRPr sz="1800"/>
            </a:pPr>
            <a:r>
              <a:t>🤖 YOLOv8</a:t>
            </a:r>
          </a:p>
          <a:p>
            <a:pPr>
              <a:spcBef>
                <a:spcPts val="600"/>
              </a:spcBef>
              <a:defRPr sz="1800"/>
            </a:pPr>
            <a:r>
              <a:t>📡 MQTT (Mosquitto)</a:t>
            </a:r>
          </a:p>
          <a:p>
            <a:pPr>
              <a:spcBef>
                <a:spcPts val="600"/>
              </a:spcBef>
              <a:defRPr sz="1800"/>
            </a:pPr>
            <a:r>
              <a:t>⚡ Node.js + Express</a:t>
            </a:r>
          </a:p>
          <a:p>
            <a:pPr>
              <a:spcBef>
                <a:spcPts val="600"/>
              </a:spcBef>
              <a:defRPr sz="1800"/>
            </a:pPr>
            <a:r>
              <a:t>⚛️ React + Vite</a:t>
            </a:r>
          </a:p>
          <a:p>
            <a:pPr>
              <a:spcBef>
                <a:spcPts val="600"/>
              </a:spcBef>
              <a:defRPr sz="1800"/>
            </a:pPr>
            <a:r>
              <a:t>📊 InfluxDB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États du système automatisé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E0 : Initialisation</a:t>
            </a:r>
          </a:p>
          <a:p>
            <a:pPr>
              <a:spcBef>
                <a:spcPts val="1200"/>
              </a:spcBef>
              <a:defRPr sz="2400"/>
            </a:pPr>
            <a:r>
              <a:t>E1 : Convoyeur 1 en marche</a:t>
            </a:r>
          </a:p>
          <a:p>
            <a:pPr>
              <a:spcBef>
                <a:spcPts val="1200"/>
              </a:spcBef>
              <a:defRPr sz="2400"/>
            </a:pPr>
            <a:r>
              <a:t>E2 : Détection objet (IR)</a:t>
            </a:r>
          </a:p>
          <a:p>
            <a:pPr>
              <a:spcBef>
                <a:spcPts val="1200"/>
              </a:spcBef>
              <a:defRPr sz="2400"/>
            </a:pPr>
            <a:r>
              <a:t>E3 : Analyse caméra (YOLO)</a:t>
            </a:r>
          </a:p>
          <a:p>
            <a:pPr>
              <a:spcBef>
                <a:spcPts val="1200"/>
              </a:spcBef>
              <a:defRPr sz="2400"/>
            </a:pPr>
            <a:r>
              <a:t>E6 : Produit KO → LED rouge</a:t>
            </a:r>
          </a:p>
          <a:p>
            <a:pPr>
              <a:spcBef>
                <a:spcPts val="1200"/>
              </a:spcBef>
              <a:defRPr sz="2400"/>
            </a:pPr>
            <a:r>
              <a:t>E8 : Produit OK → LED verte</a:t>
            </a:r>
          </a:p>
          <a:p>
            <a:pPr>
              <a:spcBef>
                <a:spcPts val="1200"/>
              </a:spcBef>
              <a:defRPr sz="2400"/>
            </a:pPr>
            <a:r>
              <a:t>E9/E11 : Arrêt convoyeurs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Détection visuelle par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📸 Capture image par caméra</a:t>
            </a:r>
          </a:p>
          <a:p>
            <a:pPr>
              <a:defRPr sz="2200"/>
            </a:pPr>
            <a:r>
              <a:t>2. 🧠 Analyse avec YOLOv8 entraîné</a:t>
            </a:r>
          </a:p>
          <a:p>
            <a:pPr>
              <a:defRPr sz="2200"/>
            </a:pPr>
            <a:r>
              <a:t>3. 🎯 Détection multi-classes :</a:t>
            </a:r>
          </a:p>
          <a:p>
            <a:pPr lvl="1">
              <a:defRPr sz="2200"/>
            </a:pPr>
            <a:r>
              <a:t>   • Bouteille (confidence 95%)</a:t>
            </a:r>
          </a:p>
          <a:p>
            <a:pPr lvl="1">
              <a:defRPr sz="2200"/>
            </a:pPr>
            <a:r>
              <a:t>   • Bouchon (confidence 92%)</a:t>
            </a:r>
          </a:p>
          <a:p>
            <a:pPr lvl="1">
              <a:defRPr sz="2200"/>
            </a:pPr>
            <a:r>
              <a:t>   • Étiquette (confidence 88%)</a:t>
            </a:r>
          </a:p>
          <a:p>
            <a:pPr>
              <a:defRPr sz="2200"/>
            </a:pPr>
            <a:r>
              <a:t>4. ✅/❌ Décision OK ou KO</a:t>
            </a:r>
          </a:p>
          <a:p>
            <a:pPr>
              <a:defRPr sz="2200"/>
            </a:pPr>
            <a:r>
              <a:t>5. 📤 Publication résultat MQTT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Communication temps réel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Topics publiés (ESP8266) :</a:t>
            </a:r>
          </a:p>
          <a:p>
            <a:pPr>
              <a:defRPr sz="1600">
                <a:latin typeface="Consolas"/>
              </a:defRPr>
            </a:pPr>
            <a:r>
              <a:t>• esp8266/capteurs/distance</a:t>
            </a:r>
          </a:p>
          <a:p>
            <a:pPr>
              <a:defRPr sz="1600">
                <a:latin typeface="Consolas"/>
              </a:defRPr>
            </a:pPr>
            <a:r>
              <a:t>• esp8266/actionneurs/moteur1</a:t>
            </a:r>
          </a:p>
          <a:p>
            <a:pPr>
              <a:defRPr sz="1600">
                <a:latin typeface="Consolas"/>
              </a:defRPr>
            </a:pPr>
            <a:r>
              <a:t>• esp8266/actionneurs/led_*</a:t>
            </a:r>
          </a:p>
          <a:p>
            <a:pPr>
              <a:defRPr sz="1600">
                <a:latin typeface="Consolas"/>
              </a:defRPr>
            </a:pPr>
            <a:r>
              <a:t>• esp8266/systeme/etat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Topics souscrits :</a:t>
            </a:r>
          </a:p>
          <a:p>
            <a:pPr>
              <a:defRPr sz="1600">
                <a:latin typeface="Consolas"/>
              </a:defRPr>
            </a:pPr>
            <a:r>
              <a:t>• raspberry/camera/resultat</a:t>
            </a:r>
          </a:p>
          <a:p>
            <a:pPr>
              <a:defRPr sz="1600">
                <a:latin typeface="Consolas"/>
              </a:defRPr>
            </a:pPr>
            <a:r>
              <a:t>• esp8266/boutons/*/cmd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Serveur intelligent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📡 MQTT Handler : Souscription topics</a:t>
            </a:r>
          </a:p>
          <a:p>
            <a:pPr>
              <a:spcBef>
                <a:spcPts val="1600"/>
              </a:spcBef>
              <a:defRPr sz="2600"/>
            </a:pPr>
            <a:r>
              <a:t>🌐 WebSocket : Temps réel frontend</a:t>
            </a:r>
          </a:p>
          <a:p>
            <a:pPr>
              <a:spcBef>
                <a:spcPts val="1600"/>
              </a:spcBef>
              <a:defRPr sz="2600"/>
            </a:pPr>
            <a:r>
              <a:t>🔌 REST API : Commandes à distance</a:t>
            </a:r>
          </a:p>
          <a:p>
            <a:pPr>
              <a:spcBef>
                <a:spcPts val="1600"/>
              </a:spcBef>
              <a:defRPr sz="2600"/>
            </a:pPr>
            <a:r>
              <a:t>💾 InfluxDB : Historisation données</a:t>
            </a:r>
          </a:p>
          <a:p>
            <a:pPr>
              <a:spcBef>
                <a:spcPts val="1600"/>
              </a:spcBef>
              <a:defRPr sz="2600"/>
            </a:pPr>
            <a:r>
              <a:t>📊 Statistiques : Calculs KPI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Jumeau Numérique en temps réel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✨ Glass Morphism : Design moderne</a:t>
            </a:r>
          </a:p>
          <a:p>
            <a:pPr>
              <a:defRPr sz="2200"/>
            </a:pPr>
            <a:r>
              <a:t>🎨 Gradients animés : Effets visuels</a:t>
            </a:r>
          </a:p>
          <a:p>
            <a:pPr>
              <a:defRPr sz="2200"/>
            </a:pPr>
            <a:r>
              <a:t>📊 Dashboard : 3 sections (Détection, Contrôles, Historique)</a:t>
            </a:r>
          </a:p>
          <a:p>
            <a:pPr>
              <a:defRPr sz="2200"/>
            </a:pPr>
            <a:r>
              <a:t>🔴🟢 LEDs virtuelles : État temps réel</a:t>
            </a:r>
          </a:p>
          <a:p>
            <a:pPr>
              <a:defRPr sz="2200"/>
            </a:pPr>
            <a:r>
              <a:t>📈 Graphiques : Historique détections</a:t>
            </a:r>
          </a:p>
          <a:p>
            <a:pPr>
              <a:defRPr sz="2200"/>
            </a:pPr>
            <a:r>
              <a:t>📱 Responsive : Tous écrans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EC4899"/>
                </a:solidFill>
              </a:defRPr>
            </a:pPr>
            <a:r>
              <a:t>🎥 Démonstration en direct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▶️ Démarrer système</a:t>
            </a:r>
          </a:p>
          <a:p>
            <a:pPr>
              <a:spcBef>
                <a:spcPts val="1200"/>
              </a:spcBef>
              <a:defRPr sz="2600"/>
            </a:pPr>
            <a:r>
              <a:t>2. 🔵 Placer flacon sur convoyeur</a:t>
            </a:r>
          </a:p>
          <a:p>
            <a:pPr>
              <a:spcBef>
                <a:spcPts val="1200"/>
              </a:spcBef>
              <a:defRPr sz="2600"/>
            </a:pPr>
            <a:r>
              <a:t>3. 📸 Analyser avec caméra</a:t>
            </a:r>
          </a:p>
          <a:p>
            <a:pPr>
              <a:spcBef>
                <a:spcPts val="1200"/>
              </a:spcBef>
              <a:defRPr sz="2600"/>
            </a:pPr>
            <a:r>
              <a:t>4. ✅ Résultat OK → LED verte</a:t>
            </a:r>
          </a:p>
          <a:p>
            <a:pPr>
              <a:spcBef>
                <a:spcPts val="1200"/>
              </a:spcBef>
              <a:defRPr sz="2600"/>
            </a:pPr>
            <a:r>
              <a:t>5. 📊 Afficher dans interface web</a:t>
            </a:r>
          </a:p>
          <a:p>
            <a:pPr>
              <a:spcBef>
                <a:spcPts val="1200"/>
              </a:spcBef>
              <a:defRPr sz="2600"/>
            </a:pPr>
            <a:r>
              <a:t>6. 📈 Statistiques mises à 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F59E0B"/>
                </a:solidFill>
              </a:defRPr>
            </a:pPr>
            <a:r>
              <a:t>Note : Prévoir vidéo backup si problème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Métriques de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⏱️ Temps détection : 145 ms (&lt; 200 ms ✅)</a:t>
            </a:r>
          </a:p>
          <a:p>
            <a:pPr>
              <a:spcBef>
                <a:spcPts val="1600"/>
              </a:spcBef>
              <a:defRPr sz="2400"/>
            </a:pPr>
            <a:r>
              <a:t>🎯 Précision YOLO : 94% (&gt; 92% ✅)</a:t>
            </a:r>
          </a:p>
          <a:p>
            <a:pPr>
              <a:spcBef>
                <a:spcPts val="1600"/>
              </a:spcBef>
              <a:defRPr sz="2400"/>
            </a:pPr>
            <a:r>
              <a:t>⚡ Temps réponse API : &lt; 50 ms ✅</a:t>
            </a:r>
          </a:p>
          <a:p>
            <a:pPr>
              <a:spcBef>
                <a:spcPts val="1600"/>
              </a:spcBef>
              <a:defRPr sz="2400"/>
            </a:pPr>
            <a:r>
              <a:t>📊 Taux disponibilité : 99.8% ✅</a:t>
            </a:r>
          </a:p>
          <a:p>
            <a:pPr>
              <a:spcBef>
                <a:spcPts val="1600"/>
              </a:spcBef>
              <a:defRPr sz="2400"/>
            </a:pPr>
            <a:r>
              <a:t>🔄 Mise à jour interface : Temps réel 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Interface utilisateur premium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Captures à ajouter (grille 2x3) :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📊 Dashboard complet</a:t>
            </a:r>
          </a:p>
          <a:p>
            <a:pPr algn="ctr">
              <a:defRPr sz="2000"/>
            </a:pPr>
            <a:r>
              <a:t>🎛️ Contrôles moteurs/LEDs</a:t>
            </a:r>
          </a:p>
          <a:p>
            <a:pPr algn="ctr">
              <a:defRPr sz="2000"/>
            </a:pPr>
            <a:r>
              <a:t>📈 Graphiques historiques</a:t>
            </a:r>
          </a:p>
          <a:p>
            <a:pPr algn="ctr">
              <a:defRPr sz="2000"/>
            </a:pPr>
            <a:r>
              <a:t>✅ Résultat analyse OK</a:t>
            </a:r>
          </a:p>
          <a:p>
            <a:pPr algn="ctr">
              <a:defRPr sz="2000"/>
            </a:pPr>
            <a:r>
              <a:t>❌ Résultat analyse KO</a:t>
            </a:r>
          </a:p>
          <a:p>
            <a:pPr algn="ctr">
              <a:defRPr sz="2000"/>
            </a:pPr>
            <a:r>
              <a:t>📱 Vue mobile responsive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Analyses sur 1 semaine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📊 Répartition OK/KO :</a:t>
            </a:r>
          </a:p>
          <a:p>
            <a:pPr lvl="1">
              <a:defRPr sz="2000"/>
            </a:pPr>
            <a:r>
              <a:t>   • 96% OK (1440 flacons)</a:t>
            </a:r>
          </a:p>
          <a:p>
            <a:pPr lvl="1">
              <a:defRPr sz="2000"/>
            </a:pPr>
            <a:r>
              <a:t>   • 4% KO (60 flacons)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📉 Causes défauts :</a:t>
            </a:r>
          </a:p>
          <a:p>
            <a:pPr lvl="1">
              <a:defRPr sz="2000"/>
            </a:pPr>
            <a:r>
              <a:t>   • 50% Bouchon absent</a:t>
            </a:r>
          </a:p>
          <a:p>
            <a:pPr lvl="1">
              <a:defRPr sz="2000"/>
            </a:pPr>
            <a:r>
              <a:t>   • 30% Étiquette manquante</a:t>
            </a:r>
          </a:p>
          <a:p>
            <a:pPr lvl="1">
              <a:defRPr sz="2000"/>
            </a:pPr>
            <a:r>
              <a:t>   • 20% Niveau liquide incorrect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Défis rencontrés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860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33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Difficulté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Solution apportée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GPIO limités ESP8266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Boutons virtuels MQTT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Détection YOLO 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Optimisation modèle Raspberry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Connexions MQTT perdues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Reconnexion automatique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Synchronisation temps réel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WebSocket + état global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Design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Glass morphism moderne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Évolutions futures possibles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Court terme :</a:t>
            </a:r>
          </a:p>
          <a:p>
            <a:pPr>
              <a:defRPr sz="2000"/>
            </a:pPr>
            <a:r>
              <a:t>🔋 Ajout batterie backup</a:t>
            </a:r>
          </a:p>
          <a:p>
            <a:pPr>
              <a:defRPr sz="2000"/>
            </a:pPr>
            <a:r>
              <a:t>📊 Dashboard analytics avancé</a:t>
            </a:r>
          </a:p>
          <a:p>
            <a:pPr>
              <a:defRPr sz="2000"/>
            </a:pPr>
            <a:r>
              <a:t>🔔 Alertes email/SMS</a:t>
            </a:r>
          </a:p>
          <a:p>
            <a:pPr>
              <a:defRPr b="1" sz="2000">
                <a:solidFill>
                  <a:srgbClr val="F59E0B"/>
                </a:solidFill>
              </a:defRPr>
            </a:pPr>
            <a:r>
              <a:t>Moyen terme :</a:t>
            </a:r>
          </a:p>
          <a:p>
            <a:pPr>
              <a:defRPr sz="2000"/>
            </a:pPr>
            <a:r>
              <a:t>🤖 Deep Learning amélioré</a:t>
            </a:r>
          </a:p>
          <a:p>
            <a:pPr>
              <a:defRPr sz="2000"/>
            </a:pPr>
            <a:r>
              <a:t>📦 Intégration ERP</a:t>
            </a:r>
          </a:p>
          <a:p>
            <a:pPr>
              <a:defRPr b="1" sz="2000">
                <a:solidFill>
                  <a:srgbClr val="EF4444"/>
                </a:solidFill>
              </a:defRPr>
            </a:pPr>
            <a:r>
              <a:t>Long terme :</a:t>
            </a:r>
          </a:p>
          <a:p>
            <a:pPr>
              <a:defRPr sz="2000"/>
            </a:pPr>
            <a:r>
              <a:t>🧠 Maintenance prédictive</a:t>
            </a:r>
          </a:p>
          <a:p>
            <a:pPr>
              <a:defRPr sz="2000"/>
            </a:pPr>
            <a:r>
              <a:t>🔄 Traçabilité blockchain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Apprentissages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Techniques :</a:t>
            </a:r>
          </a:p>
          <a:p>
            <a:pPr>
              <a:defRPr sz="1800"/>
            </a:pPr>
            <a:r>
              <a:t>⚡ IoT (ESP8266, MQTT)</a:t>
            </a:r>
          </a:p>
          <a:p>
            <a:pPr>
              <a:defRPr sz="1800"/>
            </a:pPr>
            <a:r>
              <a:t>🤖 Intelligence Artificielle</a:t>
            </a:r>
          </a:p>
          <a:p>
            <a:pPr>
              <a:defRPr sz="1800"/>
            </a:pPr>
            <a:r>
              <a:t>🌐 Développement full-stack</a:t>
            </a:r>
          </a:p>
          <a:p>
            <a:pPr>
              <a:defRPr sz="1800"/>
            </a:pPr>
            <a:r>
              <a:t>🎨 Design UI/UX moderne</a:t>
            </a:r>
          </a:p>
          <a:p>
            <a:pPr>
              <a:defRPr sz="1800"/>
            </a:pPr>
            <a:r>
              <a:t>📊 Gestion données temps réel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C4899"/>
                </a:solidFill>
              </a:defRPr>
            </a:pPr>
            <a:r>
              <a:t>Transversales :</a:t>
            </a:r>
          </a:p>
          <a:p>
            <a:pPr>
              <a:defRPr sz="1800"/>
            </a:pPr>
            <a:r>
              <a:t>📋 Gestion de projet</a:t>
            </a:r>
          </a:p>
          <a:p>
            <a:pPr>
              <a:defRPr sz="1800"/>
            </a:pPr>
            <a:r>
              <a:t>🔧 Résolution de problèmes</a:t>
            </a:r>
          </a:p>
          <a:p>
            <a:pPr>
              <a:defRPr sz="1800"/>
            </a:pPr>
            <a:r>
              <a:t>📚 Veille technologique</a:t>
            </a:r>
          </a:p>
          <a:p>
            <a:pPr>
              <a:defRPr sz="1800"/>
            </a:pPr>
            <a:r>
              <a:t>🎯 Autonomie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Bilan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Réussites :</a:t>
            </a:r>
          </a:p>
          <a:p>
            <a:pPr>
              <a:defRPr sz="2200"/>
            </a:pPr>
            <a:r>
              <a:t>✅ Tous les objectifs atteints</a:t>
            </a:r>
          </a:p>
          <a:p>
            <a:pPr>
              <a:defRPr sz="2200"/>
            </a:pPr>
            <a:r>
              <a:t>✅ Système fonctionnel et robuste</a:t>
            </a:r>
          </a:p>
          <a:p>
            <a:pPr>
              <a:defRPr sz="2200"/>
            </a:pPr>
            <a:r>
              <a:t>✅ Interface professionnelle</a:t>
            </a:r>
          </a:p>
          <a:p>
            <a:pPr>
              <a:defRPr sz="2200"/>
            </a:pPr>
            <a:r>
              <a:t>✅ Performances au-delà des attentes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EC4899"/>
                </a:solidFill>
              </a:defRPr>
            </a:pPr>
            <a:r>
              <a:t>"Ce projet démontre qu'IoT + IA = Industrie du futur"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1F5F9"/>
                </a:solidFill>
              </a:defRPr>
            </a:pPr>
            <a:r>
              <a:t>Merci de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1F5F9"/>
                </a:solidFill>
              </a:defRPr>
            </a:pPr>
            <a:r>
              <a:t>👨‍🏫 Mon encadrant [Nom]</a:t>
            </a:r>
          </a:p>
          <a:p>
            <a:pPr algn="ctr">
              <a:defRPr sz="2000">
                <a:solidFill>
                  <a:srgbClr val="F1F5F9"/>
                </a:solidFill>
              </a:defRPr>
            </a:pPr>
            <a:r>
              <a:t>🏫 L'établissement</a:t>
            </a:r>
          </a:p>
          <a:p>
            <a:pPr algn="ctr">
              <a:defRPr sz="2000">
                <a:solidFill>
                  <a:srgbClr val="F1F5F9"/>
                </a:solidFill>
              </a:defRPr>
            </a:pPr>
            <a:r>
              <a:t>💼 Entreprise (si applicable)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C4899"/>
                </a:solidFill>
              </a:defRPr>
            </a:pPr>
            <a: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1F5F9"/>
                </a:solidFill>
              </a:defRPr>
            </a:pPr>
            <a:r>
              <a:t>📧 Email : [votre email]</a:t>
            </a:r>
          </a:p>
          <a:p>
            <a:pPr algn="ctr">
              <a:defRPr sz="1600">
                <a:solidFill>
                  <a:srgbClr val="F1F5F9"/>
                </a:solidFill>
              </a:defRPr>
            </a:pPr>
            <a:r>
              <a:t>💻 GitHub : [votre github]</a:t>
            </a:r>
          </a:p>
          <a:p>
            <a:pPr algn="ctr">
              <a:defRPr sz="1600">
                <a:solidFill>
                  <a:srgbClr val="F1F5F9"/>
                </a:solidFill>
              </a:defRPr>
            </a:pPr>
            <a:r>
              <a:t>🔗 LinkedIn : [votre linkedin]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