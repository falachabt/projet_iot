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</a:rPr>
              <a:t>ICAM — Institut Catholique d'Arts et Métiers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11548872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F3864"/>
                </a:solidFill>
              </a:rPr>
              <a:t>Garantir la Qualité de la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</a:rPr>
              <a:t>d'un Produit Pharmaceutique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97480"/>
            <a:ext cx="9144000" cy="50292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F3864"/>
                </a:solidFill>
              </a:rPr>
              <a:t>Vérification automatisée des flacons d'insuline par Vision IA &amp; IoT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401568"/>
            <a:ext cx="10515600" cy="2423160"/>
          </a:xfrm>
          <a:prstGeom prst="rect">
            <a:avLst/>
          </a:prstGeom>
          <a:solidFill>
            <a:srgbClr val="F2F2F2"/>
          </a:solidFill>
          <a:ln w="762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401568"/>
            <a:ext cx="11548872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93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Groupe 4  —  Projet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7763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</a:rPr>
              <a:t>TENEZEU VOUFO Benny Dieudonné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519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</a:rPr>
              <a:t>Backend · MQTT · InfluxDB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97763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</a:rPr>
              <a:t>Yann YANKAM TCHAPDA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2519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</a:rPr>
              <a:t>ESP8266 · Câblage matériel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97763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</a:rPr>
              <a:t>Enzo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42519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</a:rPr>
              <a:t>Frontend React ·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4456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</a:rPr>
              <a:t>Bilal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1888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</a:rPr>
              <a:t>YOLO · Caméra · Raspberry 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54456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</a:rPr>
              <a:t>Walid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81888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</a:rPr>
              <a:t>OpenCV · Tests · Intégration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80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Mars 2026  |  Projet IoT — Contrôle qualité pharmaceutique  |  github.com/falachabt/Projet_IOT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576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563624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Contexte &amp; Problématique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508760"/>
            <a:ext cx="36576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3619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2" y="1563624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Architecture globale du système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20824"/>
            <a:ext cx="3657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4825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075688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Technologies utilisées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020824"/>
            <a:ext cx="3657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4825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2075688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ESP8266 &amp; GRAFCET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32888"/>
            <a:ext cx="365760" cy="38404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6032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587752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Détection IA — YOLO &amp; OpenCV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532888"/>
            <a:ext cx="3657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560320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587752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Communication MQTT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44952"/>
            <a:ext cx="365760" cy="38404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07238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3099816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Backend &amp; Frontend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044952"/>
            <a:ext cx="365760" cy="38404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07238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3099816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Entraînement du modèle YOLO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557016"/>
            <a:ext cx="36576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58444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3611880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Résultats &amp; Performances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557016"/>
            <a:ext cx="365760" cy="384048"/>
          </a:xfrm>
          <a:prstGeom prst="rect">
            <a:avLst/>
          </a:prstGeom>
          <a:solidFill>
            <a:srgbClr val="843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58444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3611880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Planning &amp; Difficultés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69080"/>
            <a:ext cx="36576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096512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" y="4123944"/>
            <a:ext cx="4892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Pourquoi automatiser le contrôle qualité des flacons d'insuline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5074920"/>
          </a:xfrm>
          <a:prstGeom prst="rect">
            <a:avLst/>
          </a:prstGeom>
          <a:solidFill>
            <a:srgbClr val="FFE7E7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 Problème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74520"/>
            <a:ext cx="508406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L'industrie pharmaceutique exige un contrôle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qualité rigoureux à chaque étape.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Pour l'insuline (produit vital), toute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non-conformité peut avoir des conséquences graves.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Contrôle manuel :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— Lent (goulot d'étranglement production)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— Coûteux en main-d'oeuvre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— Sujet aux erreurs humaines (~2-5 %)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— Difficile à tracer et à auditer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463040"/>
            <a:ext cx="5852160" cy="5074920"/>
          </a:xfrm>
          <a:prstGeom prst="rect">
            <a:avLst/>
          </a:prstGeom>
          <a:solidFill>
            <a:srgbClr val="E2EFDA"/>
          </a:solidFill>
          <a:ln w="1016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463040"/>
            <a:ext cx="5852160" cy="34747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48132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Notre Solution IoT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1874520"/>
            <a:ext cx="563270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Système embarqué autonome :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— HC-SR04 : détection arrivée flacon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— YOLO11n : vision artificielle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— ESP8266 : contrôle actionneurs WiFi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— Node.js + InfluxDB : traçabilité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— React : supervision temps réel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Résultat : analyse complète en ~405 ms,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traçabilité 100 % archivée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 Globale du Système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4 couches communicantes via MQTT</a:t>
            </a:r>
          </a:p>
        </p:txBody>
      </p:sp>
      <p:pic>
        <p:nvPicPr>
          <p:cNvPr id="7" name="Picture 6" descr="pptx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11612880" cy="52697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Pipeline de Traitement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Du capteur physique au résultat en 8 étapes</a:t>
            </a:r>
          </a:p>
        </p:txBody>
      </p:sp>
      <p:pic>
        <p:nvPicPr>
          <p:cNvPr id="7" name="Picture 6" descr="pptx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29932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846320"/>
            <a:ext cx="11430000" cy="1719072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892040"/>
            <a:ext cx="18288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491947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Étape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5285232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2" name="Rectangle 11"/>
          <p:cNvSpPr/>
          <p:nvPr/>
        </p:nvSpPr>
        <p:spPr>
          <a:xfrm>
            <a:off x="2331720" y="4892040"/>
            <a:ext cx="18288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491947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Ultrason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6584" y="5285232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~48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4892040"/>
            <a:ext cx="18288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15384" y="491947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YOLO inférence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4" y="5285232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~310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4892040"/>
            <a:ext cx="18288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4" y="491947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OpenCV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4" y="5285232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~35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892040"/>
            <a:ext cx="18288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2984" y="491947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MQTT pub.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2984" y="5285232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~12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4892040"/>
            <a:ext cx="18288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1784" y="4919472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1784" y="5285232"/>
            <a:ext cx="1719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5623"/>
                </a:solidFill>
              </a:rPr>
              <a:t>~405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5989320"/>
            <a:ext cx="1645920" cy="310896"/>
          </a:xfrm>
          <a:prstGeom prst="rect">
            <a:avLst/>
          </a:prstGeom>
          <a:solidFill>
            <a:srgbClr val="E2EFDA"/>
          </a:solidFill>
          <a:ln w="762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21824" y="601675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5623"/>
                </a:solidFill>
              </a:rPr>
              <a:t>Objectif &lt; 500 ms  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Technologies Utilisées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Stack technique — Groupe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816352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816352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Matériel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828800"/>
            <a:ext cx="2596896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ESP8266 NodeMCU (WiFi intégré)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Raspberry Pi 4 — 4 Go RAM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Caméra Pi / Webcam USB 1280×720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Capteur ultrason HC-SR04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Moteurs DC + pont en H L298N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LED verte (OK) / LED rouge (KO)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816352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2816352" cy="34747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435608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Intelligence Artificielle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828800"/>
            <a:ext cx="2596896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YOLO11n — Ultralytics ≥ 8.0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OpenCV 4.8 — heuristiques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Python 3.11 avec virtualenv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NumPy 1.24 · Pillow 10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Dataset annoté sur Roboflow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50 époques d'entraînement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2816352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281635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35608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Communication &amp; Données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1828800"/>
            <a:ext cx="2596896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MQTT — Eclipse Mosquitto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paho-mqtt 2.0 (Python)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PubSubClient (Arduino/ESP)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Node.js + Express + WS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InfluxDB (séries temporelles)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Docker + Docker Compose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417320"/>
            <a:ext cx="2816352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417320"/>
            <a:ext cx="2816352" cy="34747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435608"/>
            <a:ext cx="2633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Interface Utilisateur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1828800"/>
            <a:ext cx="2596896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React 18 + Vite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WebSocket — mise à jour &lt; 100 ms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Glass Morphism (backdrop-filter)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Dashboard 3 sections responsive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Commande à distance des actionneurs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Graphiques historiques InfluxDB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ESP8266 &amp; Logique de Contrôle (GRAFCET)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Microcontrôleur WiFi + automate à états finis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5029200" cy="5166360"/>
          </a:xfrm>
          <a:prstGeom prst="rect">
            <a:avLst/>
          </a:prstGeom>
          <a:solidFill>
            <a:srgbClr val="F2F2F2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17320"/>
            <a:ext cx="50292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3560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GRAFCET — États du système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480974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</a:rPr>
              <a:t>E0  —  Initialisation système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</a:rPr>
              <a:t>E1  —  Convoyeur 1 démarre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</a:rPr>
              <a:t>E2  —  Détection flacon (ultrason &lt; 10 cm)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</a:rPr>
              <a:t>E3  —  Analyse caméra (YOLO + OpenCV)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</a:rPr>
              <a:t>E4  KO  →  LED rouge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</a:rPr>
              <a:t>E5  KO  →  Convoyeur évacuation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</a:rPr>
              <a:t>E6  OK  →  LED verte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</a:rPr>
              <a:t>E7  OK  →  Convoyeur 2 validation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1A1A1A"/>
                </a:solidFill>
              </a:rPr>
              <a:t>E8/E9  —  Arrêt contrôlé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417320"/>
            <a:ext cx="6172200" cy="516636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1417320"/>
            <a:ext cx="61722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46304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Câblage ESP8266 — Pinout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79008" y="1847088"/>
            <a:ext cx="1179576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4" y="1865376"/>
            <a:ext cx="1124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Broche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1847088"/>
            <a:ext cx="1133856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87184" y="1865376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Composant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39327" y="1847088"/>
            <a:ext cx="3328416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1865376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Rôle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9008" y="2176272"/>
            <a:ext cx="117957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4728" y="2231136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D1 / D2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176272"/>
            <a:ext cx="113385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6328" y="22311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HC-SR04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9327" y="2176272"/>
            <a:ext cx="332841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7" y="2231136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TRIG / ECHO ultrason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79008" y="2633472"/>
            <a:ext cx="1179576" cy="420624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4728" y="2688336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D7 / D8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2633472"/>
            <a:ext cx="1133856" cy="420624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96328" y="26883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L298N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39327" y="2633472"/>
            <a:ext cx="3328416" cy="420624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7" y="2688336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IN1 / IN2 — moteur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9008" y="3090672"/>
            <a:ext cx="117957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24728" y="3145536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D3 / D4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090672"/>
            <a:ext cx="113385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6328" y="31455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L298N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9327" y="3090672"/>
            <a:ext cx="332841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7" y="3145536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IN3 / IN4 — moteur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9008" y="3547872"/>
            <a:ext cx="1179576" cy="420624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4728" y="3602736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5623"/>
                </a:solidFill>
              </a:rPr>
              <a:t>D0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3547872"/>
            <a:ext cx="1133856" cy="420624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96328" y="36027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5623"/>
                </a:solidFill>
              </a:rPr>
              <a:t>LED verte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9327" y="3547872"/>
            <a:ext cx="3328416" cy="420624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85047" y="3602736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5623"/>
                </a:solidFill>
              </a:rPr>
              <a:t>Produit conforme (OK)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79008" y="4005072"/>
            <a:ext cx="117957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24728" y="4059936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D5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005072"/>
            <a:ext cx="113385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6328" y="40599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</a:rPr>
              <a:t>LED rouge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39327" y="4005072"/>
            <a:ext cx="332841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85047" y="4059936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0000"/>
                </a:solidFill>
              </a:rPr>
              <a:t>Produit non-conforme (KO)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79008" y="4462272"/>
            <a:ext cx="1179576" cy="420624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24728" y="4517136"/>
            <a:ext cx="11247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WiFi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50608" y="4462272"/>
            <a:ext cx="1133856" cy="420624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96328" y="45171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MQTT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39327" y="4462272"/>
            <a:ext cx="3328416" cy="420624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7" y="4517136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Broker @ 172.20.10.3:1883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Détection IA — YOLO11n &amp; Heuristiques OpenCV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Analyse visuelle &lt; 350 ms sur Raspberry Pi 4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11475720" cy="512064"/>
          </a:xfrm>
          <a:prstGeom prst="rect">
            <a:avLst/>
          </a:prstGeom>
          <a:solidFill>
            <a:srgbClr val="F2F2F2"/>
          </a:solidFill>
          <a:ln w="508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17320"/>
            <a:ext cx="38404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49047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7218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Trigger MQTT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472184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Réception du topic esp8266/capteurs/distance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975104"/>
            <a:ext cx="114757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975104"/>
            <a:ext cx="38404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48256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02996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Capture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29968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PiCamera2 ou Webcam USB — résolution 1280 × 720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532888"/>
            <a:ext cx="11475720" cy="512064"/>
          </a:xfrm>
          <a:prstGeom prst="rect">
            <a:avLst/>
          </a:prstGeom>
          <a:solidFill>
            <a:srgbClr val="F2F2F2"/>
          </a:solidFill>
          <a:ln w="508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" y="2532888"/>
            <a:ext cx="384048" cy="51206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606040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8775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Inférence YOLO11n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58775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Classe 'bottle' détectée — seuil de confiance ≥ 0.40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090672"/>
            <a:ext cx="114757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090672"/>
            <a:ext cx="384048" cy="51206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163824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14553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Heuristique bouchon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145536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Zone haute 18 % — densité contours + variance couleur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3648456"/>
            <a:ext cx="11475720" cy="512064"/>
          </a:xfrm>
          <a:prstGeom prst="rect">
            <a:avLst/>
          </a:prstGeom>
          <a:solidFill>
            <a:srgbClr val="F2F2F2"/>
          </a:solidFill>
          <a:ln w="508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3648456"/>
            <a:ext cx="384048" cy="51206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721608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70332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Heuristique étiquette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70332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Zone 25–85 % — détection rectangles larges ≥ 500 px²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4206240"/>
            <a:ext cx="114757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" y="4206240"/>
            <a:ext cx="38404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427939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26110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Construction 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261104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Statut + confiances + chemin image + elapsed_ms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4764024"/>
            <a:ext cx="11475720" cy="512064"/>
          </a:xfrm>
          <a:prstGeom prst="rect">
            <a:avLst/>
          </a:prstGeom>
          <a:solidFill>
            <a:srgbClr val="F2F2F2"/>
          </a:solidFill>
          <a:ln w="508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" y="4764024"/>
            <a:ext cx="38404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4837176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81888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Publication MQTT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818888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Topic : raspberry/camera/resultat  (QoS 1)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5321808"/>
            <a:ext cx="114757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" y="5321808"/>
            <a:ext cx="38404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5394960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37667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Archivage image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537667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Sauvegarde annotée dossier ./output/ (timestamp + statut)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" y="5760720"/>
            <a:ext cx="2240280" cy="822960"/>
          </a:xfrm>
          <a:prstGeom prst="rect">
            <a:avLst/>
          </a:prstGeom>
          <a:solidFill>
            <a:srgbClr val="E2EFDA"/>
          </a:solidFill>
          <a:ln w="1016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" y="5998464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375623"/>
                </a:solidFill>
              </a:rPr>
              <a:t>OK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79192" y="5760720"/>
            <a:ext cx="2240280" cy="822960"/>
          </a:xfrm>
          <a:prstGeom prst="rect">
            <a:avLst/>
          </a:prstGeom>
          <a:solidFill>
            <a:srgbClr val="FFE7E7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52344" y="5998464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C00000"/>
                </a:solidFill>
              </a:rPr>
              <a:t>MISSING CAP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10912" y="5760720"/>
            <a:ext cx="2240280" cy="822960"/>
          </a:xfrm>
          <a:prstGeom prst="rect">
            <a:avLst/>
          </a:prstGeom>
          <a:solidFill>
            <a:srgbClr val="FFF2E7"/>
          </a:solidFill>
          <a:ln w="10160">
            <a:solidFill>
              <a:srgbClr val="843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84064" y="5998464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843C0C"/>
                </a:solidFill>
              </a:rPr>
              <a:t>MISSING LABEL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42632" y="5760720"/>
            <a:ext cx="2240280" cy="822960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15784" y="5998464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E75B6"/>
                </a:solidFill>
              </a:rPr>
              <a:t>MISSING BOTTLE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74352" y="5760720"/>
            <a:ext cx="2240280" cy="822960"/>
          </a:xfrm>
          <a:prstGeom prst="rect">
            <a:avLst/>
          </a:prstGeom>
          <a:solidFill>
            <a:srgbClr val="EFE2F7"/>
          </a:solidFill>
          <a:ln w="1016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47504" y="5998464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7030A0"/>
                </a:solidFill>
              </a:rPr>
              <a:t>INCOMPLETE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Communication MQTT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Eclipse Mosquitto — Architecture Publish / Subscribe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63040"/>
            <a:ext cx="1147572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81328"/>
            <a:ext cx="4535424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08760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6048" y="1481328"/>
            <a:ext cx="1426464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0912" y="1508760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481328"/>
            <a:ext cx="1700784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08760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Émetteur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6448" y="1481328"/>
            <a:ext cx="3529584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508760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Payload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901952"/>
            <a:ext cx="453542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947672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</a:rPr>
              <a:t>esp8266/capteurs/distance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6048" y="1901952"/>
            <a:ext cx="142646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1947672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→ Pi / 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9088" y="1901952"/>
            <a:ext cx="17007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947672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ESP8266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1901952"/>
            <a:ext cx="35295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1947672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JSON {distance_cm, flacon_detecte}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2340864"/>
            <a:ext cx="453542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2386584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5623"/>
                </a:solidFill>
              </a:rPr>
              <a:t>raspberry/camera/resultat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56048" y="2340864"/>
            <a:ext cx="142646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10912" y="2386584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→ ESP / Backend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2340864"/>
            <a:ext cx="170078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2386584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Raspberry 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56448" y="2340864"/>
            <a:ext cx="352958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2386584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JSON {status, bottle, cap, label, ms}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2779776"/>
            <a:ext cx="453542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2825496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</a:rPr>
              <a:t>esp8266/actionneurs/moteur1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56048" y="2779776"/>
            <a:ext cx="142646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2825496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→ Backend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9088" y="2779776"/>
            <a:ext cx="17007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2825496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ESP8266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56448" y="2779776"/>
            <a:ext cx="35295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2825496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JSON {etat, vitesse}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3218688"/>
            <a:ext cx="453542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3264408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5623"/>
                </a:solidFill>
              </a:rPr>
              <a:t>esp8266/actionneurs/led_vert_conv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218688"/>
            <a:ext cx="142646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10912" y="3264408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→ Backend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19088" y="3218688"/>
            <a:ext cx="170078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3264408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ESP8266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56448" y="3218688"/>
            <a:ext cx="352958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2" y="3264408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JSON {state: true/false}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" y="3657600"/>
            <a:ext cx="453542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3703320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</a:rPr>
              <a:t>esp8266/systeme/urgence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657600"/>
            <a:ext cx="142646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3703320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↔ Backend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9088" y="3657600"/>
            <a:ext cx="17007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3703320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ESP8266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56448" y="3657600"/>
            <a:ext cx="35295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1312" y="3703320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JSON {active: true/false}  (QoS 2)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" y="4096512"/>
            <a:ext cx="453542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" y="4142232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43C0C"/>
                </a:solidFill>
              </a:rPr>
              <a:t>esp8266/commandes/#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56048" y="4096512"/>
            <a:ext cx="142646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10912" y="4142232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← Backend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19088" y="4096512"/>
            <a:ext cx="170078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73952" y="4142232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Node.js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56448" y="4096512"/>
            <a:ext cx="3529584" cy="402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11312" y="4142232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JSON {action: start/stop/…}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" y="4535424"/>
            <a:ext cx="453542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4581144"/>
            <a:ext cx="44622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</a:rPr>
              <a:t>esp8266/actionneurs/led_rouge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56048" y="4535424"/>
            <a:ext cx="142646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10912" y="4581144"/>
            <a:ext cx="1353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→ Backend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19088" y="4535424"/>
            <a:ext cx="17007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73952" y="4581144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ESP8266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56448" y="4535424"/>
            <a:ext cx="352958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11312" y="4581144"/>
            <a:ext cx="3456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JSON {state: true/false}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Backend Node.js &amp; Frontend React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Jumeau numérique temps réel — Architecture fullstack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5394960" cy="5166360"/>
          </a:xfrm>
          <a:prstGeom prst="rect">
            <a:avLst/>
          </a:prstGeom>
          <a:solidFill>
            <a:srgbClr val="E2EFDA"/>
          </a:solidFill>
          <a:ln w="1016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17320"/>
            <a:ext cx="5394960" cy="34747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3560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Backend Node.js + InfluxDB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17550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mqtt-handler.js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   Souscription topics · parsing JSON · état global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websocket-handler.js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   Broadcast vers tous clients React (&lt; 100 ms)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influxdb-handler.js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   Écriture séries temporelles · requêtes historique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routes/control.js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   API REST : commandes moteurs / LEDs à distance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systemState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   État partagé : capteurs · caméra · stats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53328" y="1417320"/>
            <a:ext cx="5788152" cy="5166360"/>
          </a:xfrm>
          <a:prstGeom prst="rect">
            <a:avLst/>
          </a:prstGeom>
          <a:solidFill>
            <a:srgbClr val="EFE2F7"/>
          </a:solidFill>
          <a:ln w="1016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53328" y="1417320"/>
            <a:ext cx="5788152" cy="34747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1435608"/>
            <a:ext cx="5605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 React —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1828800"/>
            <a:ext cx="5568696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Connexion WebSocket native (port 3000)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SensorCard      — distance + état détection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GrafcetStatus  — état courant automate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CameraFeed      — résultats IA en direct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MotorControl   — commande convoyeurs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LEDIndicator   — LEDs verte / rouge live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HistoryChart   — graphiques InfluxDB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Design : Glass Morphism</a:t>
            </a:r>
          </a:p>
          <a:p>
            <a:pPr>
              <a:lnSpc>
                <a:spcPct val="115000"/>
              </a:lnSpc>
            </a:pPr>
            <a:r>
              <a:rPr sz="1150" b="0">
                <a:solidFill>
                  <a:srgbClr val="1A1A1A"/>
                </a:solidFill>
              </a:rPr>
              <a:t>(backdrop-filter blur, gradients CSS animés)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Entraînement du Modèle YOLO Personnalisé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Créer un modèle sur-mesure pour nos flacons d'insuline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4023360" cy="5166360"/>
          </a:xfrm>
          <a:prstGeom prst="rect">
            <a:avLst/>
          </a:prstGeom>
          <a:solidFill>
            <a:srgbClr val="E2EFDA"/>
          </a:solidFill>
          <a:ln w="1016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17320"/>
            <a:ext cx="4023360" cy="34747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3560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Démarche en 5 étapes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80390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1.  Collecte d'images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    collect_training_images.py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    Min. 100 images / classe,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    angles et éclairages variés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2.  Annotation — Roboflow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    Dessin bbox · attribution labels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    Split 70/20/10 · augmentation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3.  Entraînement (PC ou Colab)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    model.train(epochs=50, imgsz=640)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    Fichier résultat : best.pt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4.  Validation — mAP &amp; Loss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    Courbes ci-contre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5.  Déploiement Raspberry Pi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</a:rPr>
              <a:t>    Copie best.pt → YOLO_MODEL_PATH</a:t>
            </a:r>
          </a:p>
        </p:txBody>
      </p:sp>
      <p:pic>
        <p:nvPicPr>
          <p:cNvPr id="11" name="Picture 10" descr="pptx_y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7269480" cy="2375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Résultats &amp; Performances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Métriques mesurées sur 100 analyses en conditions réelles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1828800" cy="868680"/>
          </a:xfrm>
          <a:prstGeom prst="rect">
            <a:avLst/>
          </a:prstGeom>
          <a:solidFill>
            <a:srgbClr val="E2EFDA"/>
          </a:solidFill>
          <a:ln w="889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17320"/>
            <a:ext cx="1828800" cy="5486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36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75623"/>
                </a:solidFill>
              </a:rPr>
              <a:t>~405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901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Temps total E2E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417320"/>
            <a:ext cx="1828800" cy="868680"/>
          </a:xfrm>
          <a:prstGeom prst="rect">
            <a:avLst/>
          </a:prstGeom>
          <a:solidFill>
            <a:srgbClr val="E2EFDA"/>
          </a:solidFill>
          <a:ln w="889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1417320"/>
            <a:ext cx="1828800" cy="5486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536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75623"/>
                </a:solidFill>
              </a:rPr>
              <a:t>96 %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901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Précision YOLO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417320"/>
            <a:ext cx="1828800" cy="868680"/>
          </a:xfrm>
          <a:prstGeom prst="rect">
            <a:avLst/>
          </a:prstGeom>
          <a:solidFill>
            <a:srgbClr val="DEEBF7"/>
          </a:solidFill>
          <a:ln w="889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417320"/>
            <a:ext cx="18288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1536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</a:rPr>
              <a:t>91 %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1901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Précision bouchon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417320"/>
            <a:ext cx="1828800" cy="868680"/>
          </a:xfrm>
          <a:prstGeom prst="rect">
            <a:avLst/>
          </a:prstGeom>
          <a:solidFill>
            <a:srgbClr val="DEEBF7"/>
          </a:solidFill>
          <a:ln w="889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1417320"/>
            <a:ext cx="182880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1536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</a:rPr>
              <a:t>89 %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1901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Précision étiquette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4" y="1417320"/>
            <a:ext cx="1828800" cy="868680"/>
          </a:xfrm>
          <a:prstGeom prst="rect">
            <a:avLst/>
          </a:prstGeom>
          <a:solidFill>
            <a:srgbClr val="F2F2F2"/>
          </a:solidFill>
          <a:ln w="889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4" y="1417320"/>
            <a:ext cx="1828800" cy="548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1584" y="1536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</a:rPr>
              <a:t>&lt; 100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1901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Arrêt d'urgence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40112" y="1417320"/>
            <a:ext cx="1828800" cy="868680"/>
          </a:xfrm>
          <a:prstGeom prst="rect">
            <a:avLst/>
          </a:prstGeom>
          <a:solidFill>
            <a:srgbClr val="F2F2F2"/>
          </a:solidFill>
          <a:ln w="889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40112" y="1417320"/>
            <a:ext cx="1828800" cy="548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0112" y="1536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</a:rPr>
              <a:t>&gt; 99 %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2" y="1901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95959"/>
                </a:solidFill>
              </a:rPr>
              <a:t>Disponibilité</a:t>
            </a:r>
          </a:p>
        </p:txBody>
      </p:sp>
      <p:pic>
        <p:nvPicPr>
          <p:cNvPr id="31" name="Picture 30" descr="pptx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77440"/>
            <a:ext cx="11612880" cy="38501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Planning — Diagramme de 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10 semaines de projet · 8 phases · Groupe 4</a:t>
            </a:r>
          </a:p>
        </p:txBody>
      </p:sp>
      <p:pic>
        <p:nvPicPr>
          <p:cNvPr id="7" name="Picture 6" descr="pptx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11201400" cy="4262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Difficultés Rencontrées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Obstacles techniques et comment nous les avons résolus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44752"/>
            <a:ext cx="1147572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44752"/>
            <a:ext cx="13716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087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PEP 668 — Raspberry Pi OS Bookworm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99616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95959"/>
                </a:solidFill>
              </a:rPr>
              <a:t>Problème : pip bloqué hors d'un environnement virtuel (protection système)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Solution :  python3 -m venv venv --system-site-packages  +  source venv/bin/activate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734056"/>
            <a:ext cx="11475720" cy="1188720"/>
          </a:xfrm>
          <a:prstGeom prst="rect">
            <a:avLst/>
          </a:prstGeom>
          <a:solidFill>
            <a:srgbClr val="F2F2F2"/>
          </a:solidFill>
          <a:ln w="8890">
            <a:solidFill>
              <a:srgbClr val="843C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2734056"/>
            <a:ext cx="137160" cy="1188720"/>
          </a:xfrm>
          <a:prstGeom prst="rect">
            <a:avLst/>
          </a:prstGeom>
          <a:solidFill>
            <a:srgbClr val="843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79806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43C0C"/>
                </a:solidFill>
              </a:rPr>
              <a:t>Seuils OpenCV sensibles à l'éclairage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88920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95959"/>
                </a:solidFill>
              </a:rPr>
              <a:t>Problème : La densité de contours varie selon la lumière ambiante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300984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Solution :  Paramètres exposés dans config.py — ajustables sans recompilation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4023360"/>
            <a:ext cx="1147572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" y="4023360"/>
            <a:ext cx="137160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0873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Latence YOLO sur Raspberry Pi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78224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95959"/>
                </a:solidFill>
              </a:rPr>
              <a:t>Problème : L'inférence YOLO11 : 200–400 ms selon résolution d'entrée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590288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Solution :  Modèle nano (yolo11n.pt) + résolution 640×480 en 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5312664"/>
            <a:ext cx="11475720" cy="1188720"/>
          </a:xfrm>
          <a:prstGeom prst="rect">
            <a:avLst/>
          </a:prstGeom>
          <a:solidFill>
            <a:srgbClr val="F2F2F2"/>
          </a:solidFill>
          <a:ln w="889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5312664"/>
            <a:ext cx="137160" cy="11887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37667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5623"/>
                </a:solidFill>
              </a:rPr>
              <a:t>Analyses MQTT concurrentes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367528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95959"/>
                </a:solidFill>
              </a:rPr>
              <a:t>Problème : Triggers rapprochés déclenchaient plusieurs analyses en parallèle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879592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Solution :  Verrou threading (_analyzing flag) dans app_mqtt.py — sérialisation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88952" cy="32004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607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3864"/>
                </a:solidFill>
              </a:rPr>
              <a:t>Bilan — Groupe 4, ICAM Mars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5669280" cy="5166360"/>
          </a:xfrm>
          <a:prstGeom prst="rect">
            <a:avLst/>
          </a:prstGeom>
          <a:solidFill>
            <a:srgbClr val="E2EFDA"/>
          </a:solidFill>
          <a:ln w="1016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417320"/>
            <a:ext cx="5669280" cy="34747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3560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Ce que nous avons accompli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44982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Système IoT fonctionnel de bout-en-bout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(capteur physique → dashboard web)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Pipeline complet en ~405 ms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(bien en dessous du seuil de 500 ms)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Précision IA &gt; 89 % sur tous les éléments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(bouteille, bouchon, étiquette)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Architecture distribuée et modulaire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(ESP8266 · Raspberry Pi · Node.js · React)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Traçabilité 100 % via InfluxDB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417320"/>
            <a:ext cx="5550408" cy="5166360"/>
          </a:xfrm>
          <a:prstGeom prst="rect">
            <a:avLst/>
          </a:prstGeom>
          <a:solidFill>
            <a:srgbClr val="F2F2F2"/>
          </a:solidFill>
          <a:ln w="1016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417320"/>
            <a:ext cx="5550408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35608"/>
            <a:ext cx="5367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Perspectives d'amélioration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33095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Court terme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Modèle YOLO sur-mesure (cap / label)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Capteur de poids HX711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Authentification MQTT (TLS)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Moyen terme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Accélérateur Hailo-8 (NPU Pi 5)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API OPC-UA / IIoT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Déploiement cloud multi-sites</a:t>
            </a: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Long terme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Intégration ERP / MES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</a:rPr>
              <a:t>   Maintenance prédictive 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F3864"/>
                </a:solidFill>
              </a:rPr>
              <a:t>Merci de votre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874519"/>
            <a:ext cx="11548872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E75B6"/>
                </a:solidFill>
              </a:rPr>
              <a:t>Questions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337560"/>
            <a:ext cx="11548872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9418320" cy="2194560"/>
          </a:xfrm>
          <a:prstGeom prst="rect">
            <a:avLst/>
          </a:prstGeom>
          <a:solidFill>
            <a:srgbClr val="F2F2F2"/>
          </a:solidFill>
          <a:ln w="762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63931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</a:rPr>
              <a:t>Groupe 4  —  ICAM  —  Mars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133087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</a:rPr>
              <a:t>TENEZEU VOUFO Benny Dieudonné   ·   Yann YANKAM TCHAPDA   ·   Enzo   ·   Bilal   ·   Walid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6177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</a:rPr>
              <a:t>github.com/falachabt/Projet_IOT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